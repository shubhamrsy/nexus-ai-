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1371600" cy="635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Calibri"/>
              </a:defRPr>
            </a:pPr>
            <a:r>
              <a:t>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0AACC"/>
                </a:solidFill>
                <a:latin typeface="Calibri"/>
              </a:defRPr>
            </a:pPr>
            <a:r>
              <a:t>Open-Source Omnichannel AI Agent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090B0"/>
                </a:solidFill>
                <a:latin typeface="Calibri"/>
              </a:defRPr>
            </a:pPr>
            <a:r>
              <a:t>Chat  ·  Copilot  ·  Voice  —  One 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7090"/>
                </a:solidFill>
                <a:latin typeface="Calibri"/>
              </a:defRPr>
            </a:pPr>
            <a:r>
              <a:t>github.com/ShubhamRSY/voice-agents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Is Nexus?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937"/>
                </a:solidFill>
                <a:latin typeface="Calibri"/>
              </a:defRPr>
            </a:pPr>
            <a:r>
              <a:t>Nexus is an open-source omnichannel AI agent platform for customer support. It solves the problem of fragmented support tools by providing a single AI-powered orchestrator that handles conversations across chat, copilot, and voice from one runtime.</a:t>
            </a:r>
            <a:br/>
            <a:br/>
            <a:r>
              <a:t>One knowledge base, one feedback loop, one console — no more switching between siloed systems. Nexus ships with a built-in mock LLM so the entire platform runs without any API keys, making it fully functional for local development and testing out of the box.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Three Channels, One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347472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3383280" cy="508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B6CE6"/>
                </a:solidFill>
                <a:latin typeface="Calibri"/>
              </a:defRPr>
            </a:pPr>
            <a:r>
              <a:t>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Live AI conversation with SSE streaming,</a:t>
            </a:r>
            <a:br/>
            <a:r>
              <a:t>RAG citations, session history, and</a:t>
            </a:r>
            <a:br/>
            <a:r>
              <a:t>per-mode message filtering.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011680"/>
            <a:ext cx="3383280" cy="347472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011680"/>
            <a:ext cx="3383280" cy="50800"/>
          </a:xfrm>
          <a:prstGeom prst="rect">
            <a:avLst/>
          </a:prstGeom>
          <a:solidFill>
            <a:srgbClr val="0E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EA59E"/>
                </a:solidFill>
                <a:latin typeface="Calibri"/>
              </a:defRPr>
            </a:pPr>
            <a:r>
              <a:t>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Agent-assist mode — paste a customer</a:t>
            </a:r>
            <a:br/>
            <a:r>
              <a:t>transcript and get an AI-generated</a:t>
            </a:r>
            <a:br/>
            <a:r>
              <a:t>reply in seconds.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3383280" cy="347472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011680"/>
            <a:ext cx="33832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286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PSTN telephony via Twilio, Amazon</a:t>
            </a:r>
            <a:br/>
            <a:r>
              <a:t>Connect, or any SIP trunk. Live STT →</a:t>
            </a:r>
            <a:br/>
            <a:r>
              <a:t>AI → TTS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User / Console  →  REST API  →  Orchestrator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Session Manager — create, load, persist sessions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Prompt Builder — system prompt + chat history + RAG context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Agent Router — select model &amp; agent by configuration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  Flow:  Receive → Session → RAG → Prompt → LLM → Stream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Services layer:  Feedback Engine · Vault (AES-256-GCM) · iPaaS Webhooks</a:t>
            </a:r>
          </a:p>
          <a:p>
            <a:pPr>
              <a:spcAft>
                <a:spcPts val="4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Infrastructure:  Twilio · Docker · PostgreSQL · Redis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LLM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Multi-LLM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OpenAI GPT-4o / GPT-4o-mini — default provider, production-ready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Anthropic Claude 3.5 Sonnet &amp; Haiku — alternative provider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Google Gemini 2.0 Flash — via gemini_provider module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Built-in Mock LLM — enables full development without API keys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Per-agent model assignment via YAML configuration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Pluggable provider interface — add any LLM in a single 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RAG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Vector-based retrieval augmented generation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Configurable chunk size &amp; top-K retrieval parameters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Source-grounded citations in every AI response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Knowledge base → vector embeddings pipeline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Per-agent knowledge base assignment in YAML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Adjustable retrieval threshold per use 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6CE6"/>
                </a:solidFill>
                <a:latin typeface="Calibri"/>
              </a:defRPr>
            </a:pPr>
            <a:r>
              <a:t>RAG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12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User Question  →  Embed  →  Vector Search  →  Retrieve Chunks  →  Augment Prompt  →  Generate Response with Citations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TELEPHONY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Voice &amp; PSTN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Twilio Programmable Voice — production-grade PSTN handling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Amazon Connect — CCaaS integration for enterprise contact centers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Generic SIP / CCaaS — compatible with any SIP trunk provider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VAPI.ai &amp; Retell AI — AI voice agent overlay support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Built-in voice simulator — full testing without phone hardware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Deepgram &amp; AssemblyAI for speech-to-text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ElevenLabs &amp; PlayHT for text-to-speech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Call status tracking and logs via REST API endpoints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  <a:latin typeface="Calibri"/>
              </a:defRPr>
            </a:pPr>
            <a:r>
              <a:t>Twilio webhook handlers with status callbacks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Feedback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Users rate responses with thumbs up / down or CSAT score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CSAT ratings dynamically tune agent temperature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Adjusts RAG retrieval threshold based on feedback trends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Sentiment tracking across sessions and channels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All feedback logged for dashboard and analysis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Enables continuous AI improvement without manual tuning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6CE6"/>
                </a:solidFill>
                <a:latin typeface="Calibri"/>
              </a:defRPr>
            </a:pPr>
            <a:r>
              <a:t>Feedback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12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Rating Submitted  →  Temperature Adjusted  →  RAG Threshold Tuned  →  Next Response Improves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Vault &amp; Credential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AES-256-GCM encrypted vault — all credentials encrypted at rest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REST API for credential CRUD operations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JWT authentication with configurable expiry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Pydantic input validation on every API endpoint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Strict CORS origin whitelist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Environment files never committed to version control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  <a:latin typeface="Calibri"/>
              </a:defRPr>
            </a:pPr>
            <a:r>
              <a:t>No plaintext secrets in memory beyond request scope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Console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Dark mode interface with clean animations and micro-interactions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Three-channel tabs: Chat, Copilot, and Voice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Per-mode message filtering with sync toggle (combined or separated)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Session sidebar — create, rename, switch, and clear sessions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SSE streaming for word-by-word AI response display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Typing indicator, streaming cursor, and entrance animations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Welcome screen with per-mode placeholders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Scrollable history with thin scrollbars and responsive layout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iPaaS Webhooks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Lifecycle event webhooks for n8n, Zapier, and custom automation flows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Events: session.created, message.completed, feedback.submitted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Async HTTP dispatch via httpx — non-blocking delivery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Event history endpoint for debugging and replay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Connect to CRMs: Salesforce, Zendesk, ServiceNow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Connect to notifications: Slack, email, and more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Template workflows included for n8n and Zapier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Agent Definitions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Agents are defined in YAML files — no code changes required to add or modify agents: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10515600" cy="3200400"/>
          </a:xfrm>
          <a:prstGeom prst="roundRect">
            <a:avLst>
              <a:gd name="adj" fmla="val 4000"/>
            </a:avLst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# config/agents/support.yaml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name: acme_support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display_name: ACME Support Agent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model: gpt-4o-mini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temperature: 0.7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system_prompt: |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You are a helpful support agent for ACME Corp.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Answer questions based on the knowledge base.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knowledge_base: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source: docs/knowledge_base/acme_support.md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rag: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enabled: true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chunk_size: 512</a:t>
            </a:r>
          </a:p>
          <a:p>
            <a:pPr>
              <a:spcAft>
                <a:spcPts val="1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top_k: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Deployment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1371600" cy="320040"/>
          </a:xfrm>
          <a:prstGeom prst="roundRect">
            <a:avLst>
              <a:gd name="adj" fmla="val 3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128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Consolas"/>
              </a:defRPr>
            </a:pPr>
            <a:r>
              <a:t>docker compose -f deploy/docker/docker-compose.yml 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39"/>
            <a:ext cx="1371600" cy="320040"/>
          </a:xfrm>
          <a:prstGeom prst="roundRect">
            <a:avLst>
              <a:gd name="adj" fmla="val 3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Bare Metal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3172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Consolas"/>
              </a:defRPr>
            </a:pPr>
            <a:r>
              <a:t>uvicorn src.main:app --host 0.0.0.0 --port 8001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371600" cy="320040"/>
          </a:xfrm>
          <a:prstGeom prst="roundRect">
            <a:avLst>
              <a:gd name="adj" fmla="val 3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4505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937"/>
                </a:solidFill>
                <a:latin typeface="Consolas"/>
              </a:defRPr>
            </a:pPr>
            <a:r>
              <a:t>GitHub Actions pipeline — lint, test, e2e, build, deploy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AACC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Testing &amp; CI/CD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158+ unit tests covering all routers, services, and LLM providers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33 comprehensive end-to-end tests simulating real user flows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Mock LLM enables full test coverage without external API keys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Ruff linter and mypy type checking enforced in CI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Coverage reports output to reports/coverage/</a:t>
            </a:r>
          </a:p>
          <a:p>
            <a:pPr>
              <a:spcAft>
                <a:spcPts val="800"/>
              </a:spcAft>
              <a:defRPr sz="1500">
                <a:solidFill>
                  <a:srgbClr val="1F2937"/>
                </a:solidFill>
                <a:latin typeface="Calibri"/>
              </a:defRPr>
            </a:pPr>
            <a:r>
              <a:t>GitHub Actions workflow: lint → test → e2e → Docker build → deploy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2011680" cy="365760"/>
          </a:xfrm>
          <a:prstGeom prst="roundRect">
            <a:avLst>
              <a:gd name="adj" fmla="val 3000"/>
            </a:avLst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pytest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5029200"/>
            <a:ext cx="2011680" cy="365760"/>
          </a:xfrm>
          <a:prstGeom prst="roundRect">
            <a:avLst>
              <a:gd name="adj" fmla="val 3000"/>
            </a:avLst>
          </a:prstGeom>
          <a:solidFill>
            <a:srgbClr val="0EA5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39" y="5029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ruff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59" y="5029200"/>
            <a:ext cx="2011680" cy="365760"/>
          </a:xfrm>
          <a:prstGeom prst="roundRect">
            <a:avLst>
              <a:gd name="adj" fmla="val 3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59" y="5029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mypy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3200400"/>
            <a:ext cx="2286000" cy="63500"/>
          </a:xfrm>
          <a:prstGeom prst="rect">
            <a:avLst/>
          </a:prstGeom>
          <a:solidFill>
            <a:srgbClr val="2B6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AACC"/>
                </a:solidFill>
                <a:latin typeface="Calibri"/>
              </a:defRPr>
            </a:pPr>
            <a:r>
              <a:t>Nexus — Open-Source Omnichannel AI Agent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080A0"/>
                </a:solidFill>
                <a:latin typeface="Calibri"/>
              </a:defRPr>
            </a:pPr>
            <a:r>
              <a:t>MIT License  ·  github.com/ShubhamRSY/voice-agents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06080"/>
                </a:solidFill>
                <a:latin typeface="Calibri"/>
              </a:defRPr>
            </a:pPr>
            <a:r>
              <a:t>Chat  ·  Copilot  ·  Voice  —  One Orchestrator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